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a35911a8814960" /><Relationship Type="http://schemas.openxmlformats.org/officeDocument/2006/relationships/extended-properties" Target="/docProps/app.xml" Id="R2785bd7eff98489e" /><Relationship Type="http://schemas.openxmlformats.org/officeDocument/2006/relationships/officeDocument" Target="/ppt/presentation.xml" Id="R835ba778143343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de76c4ef1c4024"/>
  </p:sldMasterIdLst>
  <p:notesMasterIdLst>
    <p:notesMasterId xmlns:r="http://schemas.openxmlformats.org/officeDocument/2006/relationships" r:id="R7da41563b107424d"/>
  </p:notesMasterIdLst>
  <p:sldIdLst>
    <p:sldId xmlns:r="http://schemas.openxmlformats.org/officeDocument/2006/relationships" id="256" r:id="Rac130bb4e07e48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1a8e7d40b34e51" /><Relationship Type="http://schemas.openxmlformats.org/officeDocument/2006/relationships/slideMaster" Target="/ppt/slideMasters/slideMaster1.xml" Id="R22de76c4ef1c4024" /><Relationship Type="http://schemas.openxmlformats.org/officeDocument/2006/relationships/notesMaster" Target="/ppt/notesMasters/notesMaster1.xml" Id="R7da41563b107424d" /><Relationship Type="http://schemas.openxmlformats.org/officeDocument/2006/relationships/presProps" Target="/ppt/presProps.xml" Id="R71d447e09827451c" /><Relationship Type="http://schemas.openxmlformats.org/officeDocument/2006/relationships/tableStyles" Target="/ppt/tableStyles.xml" Id="R2669f4cae6594d58" /><Relationship Type="http://schemas.openxmlformats.org/officeDocument/2006/relationships/slide" Target="/ppt/slides/slide1.xml" Id="Rac130bb4e07e48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5f7656143545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b4165e175d4e20" /><Relationship Type="http://schemas.openxmlformats.org/officeDocument/2006/relationships/notesMaster" Target="/ppt/notesMasters/notesMaster1.xml" Id="Rbe57f5ca0cd246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Hi, I’m Jules. I’m a developer working across ecommerce, adtech and AI.</a:t>
            </a:r>
          </a:p>
          <a:p xmlns:a="http://schemas.openxmlformats.org/drawingml/2006/main">
            <a:r>
              <a:t>WebMCP lets a website expose useful local tools to an AI companion in the browser. PRSIM uses those tools to adapt an authored storefront around the shopper’s current need.</a:t>
            </a:r>
          </a:p>
          <a:p xmlns:a="http://schemas.openxmlformats.org/drawingml/2006/main">
            <a:r>
              <a:t>The ELM framing is intentionally nuanced: high elaboration increases the importance of strong arguments; lower elaboration makes simple contextual cues more influential. PRSIM adapts information density and ordering rather than assuming that less information automatically causes impulse buying.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https://learn.chatgpt.com/docs/webmcp</a:t>
            </a:r>
          </a:p>
          <a:p xmlns:a="http://schemas.openxmlformats.org/drawingml/2006/main">
            <a:r>
              <a:t>- https://doi.org/10.1016/S0065-2601(08)60214-2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076acf18c4e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2d0025f17c4bb2" /><Relationship Type="http://schemas.openxmlformats.org/officeDocument/2006/relationships/slideLayout" Target="/ppt/slideLayouts/slideLayout1.xml" Id="R2bb877a83f2941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b877a83f2941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d893a2de64e81" /><Relationship Type="http://schemas.openxmlformats.org/officeDocument/2006/relationships/notesSlide" Target="/ppt/notesSlides/notesSlide1.xml" Id="R9076310e0d3142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BF94A279-AF32-4A1F-82F8-8AC0E893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1AA794B-CA6D-427C-86B5-C503A91E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A0A0A"/>
                </a:solidFill>
              </a:defRPr>
            </a:pPr>
            <a:r>
              <a:rPr sz="2100" b="1">
                <a:solidFill>
                  <a:srgbClr val="0A0A0A"/>
                </a:solidFill>
              </a:rPr>
              <a:t>PRSIM</a:t>
            </a:r>
          </a:p>
        </p:txBody>
      </p:sp>
      <p:sp>
        <p:nvSpPr>
          <p:cNvPr id="3" name="challenge-label">
            <a:extLst xmlns:a="http://schemas.openxmlformats.org/drawingml/2006/main">
              <a:ext uri="{FF2B5EF4-FFF2-40B4-BE49-F238E27FC236}">
                <a16:creationId xmlns:a16="http://schemas.microsoft.com/office/drawing/2014/main" id="{BE89AAB9-EDEB-4DF8-814A-287D0208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5F59"/>
                </a:solidFill>
              </a:defRPr>
            </a:pPr>
            <a:r>
              <a:rPr sz="975" b="1">
                <a:solidFill>
                  <a:srgbClr val="5F5F59"/>
                </a:solidFill>
              </a:rPr>
              <a:t>WEBMCP CHALLENGE  /  2026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BBC40A0-2DF8-412D-83BD-9BCF2E64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77772"/>
                </a:solidFill>
              </a:defRPr>
            </a:pPr>
            <a:r>
              <a:rPr sz="975" b="1">
                <a:solidFill>
                  <a:srgbClr val="777772"/>
                </a:solidFill>
              </a:rPr>
              <a:t>ADAPTIVE COMMERCE  /  MERCHANT-CONTROLLED</a:t>
            </a:r>
          </a:p>
        </p:txBody>
      </p:sp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0DB6C125-37A2-4A48-8A1D-B133F814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>
                <a:solidFill>
                  <a:srgbClr val="0A0A0A"/>
                </a:solidFill>
              </a:defRPr>
            </a:pPr>
            <a:r>
              <a:rPr sz="4350">
                <a:solidFill>
                  <a:srgbClr val="0A0A0A"/>
                </a:solidFill>
              </a:rPr>
              <a:t>The same product.</a:t>
            </a:r>
          </a:p>
          <a:p xmlns:a="http://schemas.openxmlformats.org/drawingml/2006/main">
            <a:pPr>
              <a:defRPr sz="4350">
                <a:solidFill>
                  <a:srgbClr val="0A0A0A"/>
                </a:solidFill>
              </a:defRPr>
            </a:pPr>
            <a:r>
              <a:rPr sz="4350">
                <a:solidFill>
                  <a:srgbClr val="0A0A0A"/>
                </a:solidFill>
              </a:rPr>
              <a:t>A different path to confidence.</a:t>
            </a:r>
          </a:p>
        </p:txBody>
      </p:sp>
      <p:sp>
        <p:nvSpPr>
          <p:cNvPr id="6" name="webmcp-thesis">
            <a:extLst xmlns:a="http://schemas.openxmlformats.org/drawingml/2006/main">
              <a:ext uri="{FF2B5EF4-FFF2-40B4-BE49-F238E27FC236}">
                <a16:creationId xmlns:a16="http://schemas.microsoft.com/office/drawing/2014/main" id="{53C92088-CAF1-4CE0-9408-11309892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2727"/>
                </a:solidFill>
              </a:defRPr>
            </a:pPr>
            <a:r>
              <a:rPr sz="1800">
                <a:solidFill>
                  <a:srgbClr val="272727"/>
                </a:solidFill>
              </a:rPr>
              <a:t>WebMCP lets a personal AI companion act on the storefront — not just talk about it.</a:t>
            </a:r>
          </a:p>
        </p:txBody>
      </p:sp>
      <p:sp>
        <p:nvSpPr>
          <p:cNvPr id="7" name="mid-rule">
            <a:extLst xmlns:a="http://schemas.openxmlformats.org/drawingml/2006/main">
              <a:ext uri="{FF2B5EF4-FFF2-40B4-BE49-F238E27FC236}">
                <a16:creationId xmlns:a16="http://schemas.microsoft.com/office/drawing/2014/main" id="{9F012669-E723-4F2A-98D1-047DCD40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8" name="central-route-label">
            <a:extLst xmlns:a="http://schemas.openxmlformats.org/drawingml/2006/main">
              <a:ext uri="{FF2B5EF4-FFF2-40B4-BE49-F238E27FC236}">
                <a16:creationId xmlns:a16="http://schemas.microsoft.com/office/drawing/2014/main" id="{9E8CD755-6767-43D6-BFA9-98283126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77772"/>
                </a:solidFill>
              </a:defRPr>
            </a:pPr>
            <a:r>
              <a:rPr sz="975" b="1">
                <a:solidFill>
                  <a:srgbClr val="777772"/>
                </a:solidFill>
              </a:rPr>
              <a:t>MORE ELABORATION</a:t>
            </a:r>
          </a:p>
        </p:txBody>
      </p:sp>
      <p:sp>
        <p:nvSpPr>
          <p:cNvPr id="9" name="central-route">
            <a:extLst xmlns:a="http://schemas.openxmlformats.org/drawingml/2006/main">
              <a:ext uri="{FF2B5EF4-FFF2-40B4-BE49-F238E27FC236}">
                <a16:creationId xmlns:a16="http://schemas.microsoft.com/office/drawing/2014/main" id="{26F1B766-0744-4533-BFAA-FACDF19B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A0A0A"/>
                </a:solidFill>
              </a:defRPr>
            </a:pPr>
            <a:r>
              <a:rPr sz="2250">
                <a:solidFill>
                  <a:srgbClr val="0A0A0A"/>
                </a:solidFill>
              </a:rPr>
              <a:t>Evidence, comparisons,</a:t>
            </a:r>
          </a:p>
          <a:p xmlns:a="http://schemas.openxmlformats.org/drawingml/2006/main">
            <a:pPr>
              <a:defRPr sz="2250">
                <a:solidFill>
                  <a:srgbClr val="0A0A0A"/>
                </a:solidFill>
              </a:defRPr>
            </a:pPr>
            <a:r>
              <a:rPr sz="2250">
                <a:solidFill>
                  <a:srgbClr val="0A0A0A"/>
                </a:solidFill>
              </a:rPr>
              <a:t>argument quality.</a:t>
            </a:r>
          </a:p>
        </p:txBody>
      </p:sp>
      <p:sp>
        <p:nvSpPr>
          <p:cNvPr id="10" name="peripheral-route-label">
            <a:extLst xmlns:a="http://schemas.openxmlformats.org/drawingml/2006/main">
              <a:ext uri="{FF2B5EF4-FFF2-40B4-BE49-F238E27FC236}">
                <a16:creationId xmlns:a16="http://schemas.microsoft.com/office/drawing/2014/main" id="{B8C5BB68-6E5E-4F06-97B8-0BBB7DE1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95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77772"/>
                </a:solidFill>
              </a:defRPr>
            </a:pPr>
            <a:r>
              <a:rPr sz="975" b="1">
                <a:solidFill>
                  <a:srgbClr val="777772"/>
                </a:solidFill>
              </a:rPr>
              <a:t>LOWER ELABORATION</a:t>
            </a:r>
          </a:p>
        </p:txBody>
      </p:sp>
      <p:sp>
        <p:nvSpPr>
          <p:cNvPr id="11" name="peripheral-route">
            <a:extLst xmlns:a="http://schemas.openxmlformats.org/drawingml/2006/main">
              <a:ext uri="{FF2B5EF4-FFF2-40B4-BE49-F238E27FC236}">
                <a16:creationId xmlns:a16="http://schemas.microsoft.com/office/drawing/2014/main" id="{8A119168-21A0-458F-8285-23828AB6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577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A0A0A"/>
                </a:solidFill>
              </a:defRPr>
            </a:pPr>
            <a:r>
              <a:rPr sz="2250">
                <a:solidFill>
                  <a:srgbClr val="0A0A0A"/>
                </a:solidFill>
              </a:rPr>
              <a:t>Clear cues, confidence,</a:t>
            </a:r>
          </a:p>
          <a:p xmlns:a="http://schemas.openxmlformats.org/drawingml/2006/main">
            <a:pPr>
              <a:defRPr sz="2250">
                <a:solidFill>
                  <a:srgbClr val="0A0A0A"/>
                </a:solidFill>
              </a:defRPr>
            </a:pPr>
            <a:r>
              <a:rPr sz="2250">
                <a:solidFill>
                  <a:srgbClr val="0A0A0A"/>
                </a:solidFill>
              </a:rPr>
              <a:t>and projection.</a:t>
            </a:r>
          </a:p>
        </p:txBody>
      </p:sp>
      <p:sp>
        <p:nvSpPr>
          <p:cNvPr id="12" name="footer-band">
            <a:extLst xmlns:a="http://schemas.openxmlformats.org/drawingml/2006/main">
              <a:ext uri="{FF2B5EF4-FFF2-40B4-BE49-F238E27FC236}">
                <a16:creationId xmlns:a16="http://schemas.microsoft.com/office/drawing/2014/main" id="{0F2EE238-6776-4980-89EF-602AE904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3" name="closing-claim">
            <a:extLst xmlns:a="http://schemas.openxmlformats.org/drawingml/2006/main">
              <a:ext uri="{FF2B5EF4-FFF2-40B4-BE49-F238E27FC236}">
                <a16:creationId xmlns:a16="http://schemas.microsoft.com/office/drawing/2014/main" id="{62F7A649-46C3-463F-B462-FA2732EA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2"/>
                </a:solidFill>
              </a:defRPr>
            </a:pPr>
            <a:r>
              <a:rPr sz="1800" b="1">
                <a:solidFill>
                  <a:srgbClr val="F7F7F2"/>
                </a:solidFill>
              </a:rPr>
              <a:t>PRSIM adapts information density and order in real time.</a:t>
            </a:r>
          </a:p>
        </p:txBody>
      </p:sp>
      <p:sp>
        <p:nvSpPr>
          <p:cNvPr id="14" name="elm-source">
            <a:extLst xmlns:a="http://schemas.openxmlformats.org/drawingml/2006/main">
              <a:ext uri="{FF2B5EF4-FFF2-40B4-BE49-F238E27FC236}">
                <a16:creationId xmlns:a16="http://schemas.microsoft.com/office/drawing/2014/main" id="{8789EC3B-1C27-4163-B3E5-B50514E1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191250"/>
            <a:ext cx="2886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A8A2"/>
                </a:solidFill>
              </a:defRPr>
            </a:pPr>
            <a:r>
              <a:rPr sz="900" b="1">
                <a:solidFill>
                  <a:srgbClr val="A8A8A2"/>
                </a:solidFill>
              </a:rPr>
              <a:t>ELM  /  PETTY &amp; CACIOPPO, 1986</a:t>
            </a:r>
          </a:p>
        </p:txBody>
      </p:sp>
    </p:spTree>
    <p:extLst>
      <p:ext uri="{BB962C8B-B14F-4D97-AF65-F5344CB8AC3E}">
        <p14:creationId xmlns:p14="http://schemas.microsoft.com/office/powerpoint/2010/main" val="615057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2026-09-02T16:21:40.4220000Z</dcterms:created>
  <dcterms:modified xsi:type="dcterms:W3CDTF">2026-09-02T16:21:40.4220000Z</dcterms:modified>
</coreProperties>
</file>