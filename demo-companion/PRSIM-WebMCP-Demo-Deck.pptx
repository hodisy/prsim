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33c250f0db45ae" /><Relationship Type="http://schemas.openxmlformats.org/officeDocument/2006/relationships/extended-properties" Target="/docProps/app.xml" Id="Rcc6f9976ee18400c" /><Relationship Type="http://schemas.openxmlformats.org/officeDocument/2006/relationships/officeDocument" Target="/ppt/presentation.xml" Id="Rfef9e80f6b50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66c89ef28445b"/>
  </p:sldMasterIdLst>
  <p:notesMasterIdLst>
    <p:notesMasterId xmlns:r="http://schemas.openxmlformats.org/officeDocument/2006/relationships" r:id="R38133925b38d4bd1"/>
  </p:notesMasterIdLst>
  <p:sldIdLst>
    <p:sldId xmlns:r="http://schemas.openxmlformats.org/officeDocument/2006/relationships" id="256" r:id="Rcf8faca181b84946"/>
    <p:sldId xmlns:r="http://schemas.openxmlformats.org/officeDocument/2006/relationships" id="257" r:id="R18e6a8b58e064a25"/>
    <p:sldId xmlns:r="http://schemas.openxmlformats.org/officeDocument/2006/relationships" id="258" r:id="Rbaa030834f3045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a46af4eda4af8" /><Relationship Type="http://schemas.openxmlformats.org/officeDocument/2006/relationships/slideMaster" Target="/ppt/slideMasters/slideMaster1.xml" Id="Rf7566c89ef28445b" /><Relationship Type="http://schemas.openxmlformats.org/officeDocument/2006/relationships/notesMaster" Target="/ppt/notesMasters/notesMaster1.xml" Id="R38133925b38d4bd1" /><Relationship Type="http://schemas.openxmlformats.org/officeDocument/2006/relationships/presProps" Target="/ppt/presProps.xml" Id="R739113576b984974" /><Relationship Type="http://schemas.openxmlformats.org/officeDocument/2006/relationships/tableStyles" Target="/ppt/tableStyles.xml" Id="Rf3c389a8664f480e" /><Relationship Type="http://schemas.openxmlformats.org/officeDocument/2006/relationships/slide" Target="/ppt/slides/slide1.xml" Id="Rcf8faca181b84946" /><Relationship Type="http://schemas.openxmlformats.org/officeDocument/2006/relationships/slide" Target="/ppt/slides/slide2.xml" Id="R18e6a8b58e064a25" /><Relationship Type="http://schemas.openxmlformats.org/officeDocument/2006/relationships/slide" Target="/ppt/slides/slide3.xml" Id="Rbaa030834f3045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2cca1d61e045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e33322b8940af" /><Relationship Type="http://schemas.openxmlformats.org/officeDocument/2006/relationships/notesMaster" Target="/ppt/notesMasters/notesMaster1.xml" Id="Rabde5bfde2ec4c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2633f69a7b4ca4" /><Relationship Type="http://schemas.openxmlformats.org/officeDocument/2006/relationships/notesMaster" Target="/ppt/notesMasters/notesMaster1.xml" Id="Raea5da129929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b92edffbf43ac" /><Relationship Type="http://schemas.openxmlformats.org/officeDocument/2006/relationships/notesMaster" Target="/ppt/notesMasters/notesMaster1.xml" Id="Rce0adf652a33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Hi, I’m Jules. I’m a developer working across ecommerce, adtech and AI.</a:t>
            </a:r>
          </a:p>
          <a:p xmlns:a="http://schemas.openxmlformats.org/drawingml/2006/main">
            <a:r>
              <a:t>WebMCP lets a website expose useful local tools to an AI companion in the browser. PRSIM uses those tools to adapt an authored storefront around the shopper’s current need.</a:t>
            </a:r>
          </a:p>
          <a:p xmlns:a="http://schemas.openxmlformats.org/drawingml/2006/main">
            <a:r>
              <a:t>The ELM framing is intentionally nuanced: high elaboration increases the importance of strong arguments; lower elaboration makes simple contextual cues more influential. PRSIM adapts information density and ordering rather than assuming that less information automatically causes impulse buying.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https://learn.chatgpt.com/docs/webmcp</a:t>
            </a:r>
          </a:p>
          <a:p xmlns:a="http://schemas.openxmlformats.org/drawingml/2006/main">
            <a:r>
              <a:t>- https://doi.org/10.1016/S0065-2601(08)60214-2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shopper never asks the model to design a page. They express a need.</a:t>
            </a:r>
          </a:p>
          <a:p xmlns:a="http://schemas.openxmlformats.org/drawingml/2006/main">
            <a:r>
              <a:t>The companion contributes only relevant context. WebMCP exposes a local action on the active page. PRSIM resolves that request to an authored assembly of approved layouts, copy, assets, proof and commerce actions.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https://learn.chatgpt.com/docs/webmcp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hosted Preview in the built-in browser and send the natural-language shopper prompt.</a:t>
            </a:r>
          </a:p>
          <a:p xmlns:a="http://schemas.openxmlformats.org/drawingml/2006/main">
            <a:r>
              <a:t>The initial tool is called once. After the page is ready, focused tools replace it and handle cabin fit, comparison, color, evidence and checkout without rebuilding the whole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https://learn.chatgpt.com/docs/webmcp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b998d03c84d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7a9f0eabad4e12" /><Relationship Type="http://schemas.openxmlformats.org/officeDocument/2006/relationships/slideLayout" Target="/ppt/slideLayouts/slideLayout1.xml" Id="R56d414ccd22b49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414ccd22b49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9744c24694eab" /><Relationship Type="http://schemas.openxmlformats.org/officeDocument/2006/relationships/notesSlide" Target="/ppt/notesSlides/notesSlide1.xml" Id="R59fc2a9ac043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477601c11425b" /><Relationship Type="http://schemas.openxmlformats.org/officeDocument/2006/relationships/notesSlide" Target="/ppt/notesSlides/notesSlide2.xml" Id="Rc503ca2b168041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76965a8c740ae" /><Relationship Type="http://schemas.openxmlformats.org/officeDocument/2006/relationships/notesSlide" Target="/ppt/notesSlides/notesSlide3.xml" Id="Rd4c786c8e61948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BF94A279-AF32-4A1F-82F8-8AC0E893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1AA794B-CA6D-427C-86B5-C503A91E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PRSIM</a:t>
            </a:r>
          </a:p>
        </p:txBody>
      </p:sp>
      <p:sp>
        <p:nvSpPr>
          <p:cNvPr id="3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BE89AAB9-EDEB-4DF8-814A-287D020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5F59"/>
                </a:solidFill>
              </a:defRPr>
            </a:pPr>
            <a:r>
              <a:rPr sz="975" b="1">
                <a:solidFill>
                  <a:srgbClr val="5F5F59"/>
                </a:solidFill>
              </a:rPr>
              <a:t>WEBMCP CHALLENGE  /  2026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BBC40A0-2DF8-412D-83BD-9BCF2E6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ADAPTIVE COMMERCE  /  MERCHANT-CONTROLLED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0DB6C125-37A2-4A48-8A1D-B133F81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>
                <a:solidFill>
                  <a:srgbClr val="0A0A0A"/>
                </a:solidFill>
              </a:defRPr>
            </a:pPr>
            <a:r>
              <a:rPr sz="4350">
                <a:solidFill>
                  <a:srgbClr val="0A0A0A"/>
                </a:solidFill>
              </a:rPr>
              <a:t>The same product.</a:t>
            </a:r>
          </a:p>
          <a:p xmlns:a="http://schemas.openxmlformats.org/drawingml/2006/main">
            <a:pPr>
              <a:buNone/>
              <a:defRPr sz="4350">
                <a:solidFill>
                  <a:srgbClr val="0A0A0A"/>
                </a:solidFill>
              </a:defRPr>
            </a:pPr>
            <a:r>
              <a:rPr sz="4350">
                <a:solidFill>
                  <a:srgbClr val="0A0A0A"/>
                </a:solidFill>
              </a:rPr>
              <a:t>A different path to confidence.</a:t>
            </a:r>
          </a:p>
        </p:txBody>
      </p:sp>
      <p:sp>
        <p:nvSpPr>
          <p:cNvPr id="6" name="webmcp-thesis">
            <a:extLst xmlns:a="http://schemas.openxmlformats.org/drawingml/2006/main">
              <a:ext uri="{FF2B5EF4-FFF2-40B4-BE49-F238E27FC236}">
                <a16:creationId xmlns:a16="http://schemas.microsoft.com/office/drawing/2014/main" id="{53C92088-CAF1-4CE0-9408-1130989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72727"/>
                </a:solidFill>
              </a:defRPr>
            </a:pPr>
            <a:r>
              <a:rPr sz="1800">
                <a:solidFill>
                  <a:srgbClr val="272727"/>
                </a:solidFill>
              </a:rPr>
              <a:t>WebMCP lets a personal AI companion act on the storefront — not just talk about it.</a:t>
            </a:r>
          </a:p>
        </p:txBody>
      </p:sp>
      <p:sp>
        <p:nvSpPr>
          <p:cNvPr id="7" name="mid-rule">
            <a:extLst xmlns:a="http://schemas.openxmlformats.org/drawingml/2006/main">
              <a:ext uri="{FF2B5EF4-FFF2-40B4-BE49-F238E27FC236}">
                <a16:creationId xmlns:a16="http://schemas.microsoft.com/office/drawing/2014/main" id="{9F012669-E723-4F2A-98D1-047DCD40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8" name="central-route-label">
            <a:extLst xmlns:a="http://schemas.openxmlformats.org/drawingml/2006/main">
              <a:ext uri="{FF2B5EF4-FFF2-40B4-BE49-F238E27FC236}">
                <a16:creationId xmlns:a16="http://schemas.microsoft.com/office/drawing/2014/main" id="{9E8CD755-6767-43D6-BFA9-9828312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MORE ELABORATION</a:t>
            </a:r>
          </a:p>
        </p:txBody>
      </p:sp>
      <p:sp>
        <p:nvSpPr>
          <p:cNvPr id="9" name="central-route">
            <a:extLst xmlns:a="http://schemas.openxmlformats.org/drawingml/2006/main">
              <a:ext uri="{FF2B5EF4-FFF2-40B4-BE49-F238E27FC236}">
                <a16:creationId xmlns:a16="http://schemas.microsoft.com/office/drawing/2014/main" id="{26F1B766-0744-4533-BFAA-FACDF19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Evidence, comparisons,</a:t>
            </a:r>
          </a:p>
          <a:p xmlns:a="http://schemas.openxmlformats.org/drawingml/2006/main">
            <a:pPr>
              <a:buNone/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argument quality.</a:t>
            </a:r>
          </a:p>
        </p:txBody>
      </p:sp>
      <p:sp>
        <p:nvSpPr>
          <p:cNvPr id="10" name="peripheral-route-label">
            <a:extLst xmlns:a="http://schemas.openxmlformats.org/drawingml/2006/main">
              <a:ext uri="{FF2B5EF4-FFF2-40B4-BE49-F238E27FC236}">
                <a16:creationId xmlns:a16="http://schemas.microsoft.com/office/drawing/2014/main" id="{B8C5BB68-6E5E-4F06-97B8-0BBB7DE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LOWER ELABORATION</a:t>
            </a:r>
          </a:p>
        </p:txBody>
      </p:sp>
      <p:sp>
        <p:nvSpPr>
          <p:cNvPr id="11" name="peripheral-route">
            <a:extLst xmlns:a="http://schemas.openxmlformats.org/drawingml/2006/main">
              <a:ext uri="{FF2B5EF4-FFF2-40B4-BE49-F238E27FC236}">
                <a16:creationId xmlns:a16="http://schemas.microsoft.com/office/drawing/2014/main" id="{8A119168-21A0-458F-8285-23828AB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Clear cues, confidence,</a:t>
            </a:r>
          </a:p>
          <a:p xmlns:a="http://schemas.openxmlformats.org/drawingml/2006/main">
            <a:pPr>
              <a:buNone/>
              <a:defRPr sz="2250">
                <a:solidFill>
                  <a:srgbClr val="0A0A0A"/>
                </a:solidFill>
              </a:defRPr>
            </a:pPr>
            <a:r>
              <a:rPr sz="2250">
                <a:solidFill>
                  <a:srgbClr val="0A0A0A"/>
                </a:solidFill>
              </a:rPr>
              <a:t>and projection.</a:t>
            </a:r>
          </a:p>
        </p:txBody>
      </p:sp>
      <p:sp>
        <p:nvSpPr>
          <p:cNvPr id="12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F2EE238-6776-4980-89EF-602AE90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3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62F7A649-46C3-463F-B462-FA2732E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PRSIM adapts information density and order in real time.</a:t>
            </a:r>
          </a:p>
        </p:txBody>
      </p:sp>
      <p:sp>
        <p:nvSpPr>
          <p:cNvPr id="14" name="elm-source">
            <a:extLst xmlns:a="http://schemas.openxmlformats.org/drawingml/2006/main">
              <a:ext uri="{FF2B5EF4-FFF2-40B4-BE49-F238E27FC236}">
                <a16:creationId xmlns:a16="http://schemas.microsoft.com/office/drawing/2014/main" id="{8789EC3B-1C27-4163-B3E5-B50514E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19125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8A8A2"/>
                </a:solidFill>
              </a:defRPr>
            </a:pPr>
            <a:r>
              <a:rPr sz="900" b="1">
                <a:solidFill>
                  <a:srgbClr val="A8A8A2"/>
                </a:solidFill>
              </a:rPr>
              <a:t>ELM  /  PETTY &amp; CACIOPPO, 1986</a:t>
            </a:r>
          </a:p>
        </p:txBody>
      </p:sp>
    </p:spTree>
    <p:extLst>
      <p:ext uri="{BB962C8B-B14F-4D97-AF65-F5344CB8AC3E}">
        <p14:creationId xmlns:p14="http://schemas.microsoft.com/office/powerpoint/2010/main" val="615057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BF94A279-AF32-4A1F-82F8-8AC0E893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1AA794B-CA6D-427C-86B5-C503A91E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PRSIM</a:t>
            </a:r>
          </a:p>
        </p:txBody>
      </p:sp>
      <p:sp>
        <p:nvSpPr>
          <p:cNvPr id="3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BE89AAB9-EDEB-4DF8-814A-287D020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5F59"/>
                </a:solidFill>
              </a:defRPr>
            </a:pPr>
            <a:r>
              <a:rPr sz="975" b="1">
                <a:solidFill>
                  <a:srgbClr val="5F5F59"/>
                </a:solidFill>
              </a:rPr>
              <a:t>02  /  HOW IT WORKS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BBC40A0-2DF8-412D-83BD-9BCF2E6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ONE NEED  /  ONE CALL  /  AUTHORED EXPERIENCE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0DB6C125-37A2-4A48-8A1D-B133F81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990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>
                <a:solidFill>
                  <a:srgbClr val="0A0A0A"/>
                </a:solidFill>
              </a:defRPr>
            </a:pPr>
            <a:r>
              <a:rPr sz="3450">
                <a:solidFill>
                  <a:srgbClr val="0A0A0A"/>
                </a:solidFill>
              </a:rPr>
              <a:t>The model chooses relevance.</a:t>
            </a:r>
          </a:p>
          <a:p xmlns:a="http://schemas.openxmlformats.org/drawingml/2006/main">
            <a:pPr>
              <a:buNone/>
              <a:defRPr sz="3450">
                <a:solidFill>
                  <a:srgbClr val="0A0A0A"/>
                </a:solidFill>
              </a:defRPr>
            </a:pPr>
            <a:r>
              <a:rPr sz="3450">
                <a:solidFill>
                  <a:srgbClr val="0A0A0A"/>
                </a:solidFill>
              </a:rPr>
              <a:t>The merchant controls the page.</a:t>
            </a:r>
          </a:p>
        </p:txBody>
      </p:sp>
      <p:sp>
        <p:nvSpPr>
          <p:cNvPr id="6" name="webmcp-thesis">
            <a:extLst xmlns:a="http://schemas.openxmlformats.org/drawingml/2006/main">
              <a:ext uri="{FF2B5EF4-FFF2-40B4-BE49-F238E27FC236}">
                <a16:creationId xmlns:a16="http://schemas.microsoft.com/office/drawing/2014/main" id="{53C92088-CAF1-4CE0-9408-1130989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72727"/>
                </a:solidFill>
              </a:defRPr>
            </a:pPr>
            <a:r>
              <a:rPr sz="1650">
                <a:solidFill>
                  <a:srgbClr val="272727"/>
                </a:solidFill>
              </a:rPr>
              <a:t>The companion brings intent and context. WebMCP turns them into a local, verifiable action.</a:t>
            </a:r>
          </a:p>
        </p:txBody>
      </p:sp>
      <p:sp>
        <p:nvSpPr>
          <p:cNvPr id="7" name="mid-rule">
            <a:extLst xmlns:a="http://schemas.openxmlformats.org/drawingml/2006/main">
              <a:ext uri="{FF2B5EF4-FFF2-40B4-BE49-F238E27FC236}">
                <a16:creationId xmlns:a16="http://schemas.microsoft.com/office/drawing/2014/main" id="{9F012669-E723-4F2A-98D1-047DCD40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002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2"/>
          </a:solidFill>
          <a:ln xmlns:a="http://schemas.openxmlformats.org/drawingml/2006/main" w="0">
            <a:solidFill>
              <a:srgbClr val="777772"/>
            </a:solidFill>
            <a:prstDash val="solid"/>
          </a:ln>
        </p:spPr>
      </p:sp>
      <p:sp>
        <p:nvSpPr>
          <p:cNvPr id="8" name="central-route-label">
            <a:extLst xmlns:a="http://schemas.openxmlformats.org/drawingml/2006/main">
              <a:ext uri="{FF2B5EF4-FFF2-40B4-BE49-F238E27FC236}">
                <a16:creationId xmlns:a16="http://schemas.microsoft.com/office/drawing/2014/main" id="{9E8CD755-6767-43D6-BFA9-9828312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1 / SHOPPER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Natural request</a:t>
            </a:r>
          </a:p>
        </p:txBody>
      </p:sp>
      <p:sp>
        <p:nvSpPr>
          <p:cNvPr id="9" name="central-route">
            <a:extLst xmlns:a="http://schemas.openxmlformats.org/drawingml/2006/main">
              <a:ext uri="{FF2B5EF4-FFF2-40B4-BE49-F238E27FC236}">
                <a16:creationId xmlns:a16="http://schemas.microsoft.com/office/drawing/2014/main" id="{26F1B766-0744-4533-BFAA-FACDF19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861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3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 / COMPANION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Relevant context</a:t>
            </a:r>
          </a:p>
        </p:txBody>
      </p:sp>
      <p:sp>
        <p:nvSpPr>
          <p:cNvPr id="10" name="peripheral-route-label">
            <a:extLst xmlns:a="http://schemas.openxmlformats.org/drawingml/2006/main">
              <a:ext uri="{FF2B5EF4-FFF2-40B4-BE49-F238E27FC236}">
                <a16:creationId xmlns:a16="http://schemas.microsoft.com/office/drawing/2014/main" id="{B8C5BB68-6E5E-4F06-97B8-0BBB7DE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3 / WEBMCP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F7F7F2"/>
                </a:solidFill>
              </a:rPr>
              <a:t>One local tool call</a:t>
            </a:r>
          </a:p>
        </p:txBody>
      </p:sp>
      <p:sp>
        <p:nvSpPr>
          <p:cNvPr id="11" name="peripheral-route">
            <a:extLst xmlns:a="http://schemas.openxmlformats.org/drawingml/2006/main">
              <a:ext uri="{FF2B5EF4-FFF2-40B4-BE49-F238E27FC236}">
                <a16:creationId xmlns:a16="http://schemas.microsoft.com/office/drawing/2014/main" id="{8A119168-21A0-458F-8285-23828AB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4 / PRSIM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Authored assembly</a:t>
            </a:r>
          </a:p>
        </p:txBody>
      </p:sp>
      <p:sp>
        <p:nvSpPr>
          <p:cNvPr id="12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F2EE238-6776-4980-89EF-602AE90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3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62F7A649-46C3-463F-B462-FA2732E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Layouts + copy + assets + proof + CTA</a:t>
            </a:r>
          </a:p>
        </p:txBody>
      </p:sp>
      <p:sp>
        <p:nvSpPr>
          <p:cNvPr id="14" name="elm-source">
            <a:extLst xmlns:a="http://schemas.openxmlformats.org/drawingml/2006/main">
              <a:ext uri="{FF2B5EF4-FFF2-40B4-BE49-F238E27FC236}">
                <a16:creationId xmlns:a16="http://schemas.microsoft.com/office/drawing/2014/main" id="{8789EC3B-1C27-4163-B3E5-B50514E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19125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8A8A2"/>
                </a:solidFill>
              </a:defRPr>
            </a:pPr>
            <a:r>
              <a:rPr sz="900" b="1">
                <a:solidFill>
                  <a:srgbClr val="A8A8A2"/>
                </a:solidFill>
              </a:rPr>
              <a:t>NO GENERATED UI</a:t>
            </a:r>
          </a:p>
        </p:txBody>
      </p:sp>
    </p:spTree>
    <p:extLst>
      <p:ext uri="{BB962C8B-B14F-4D97-AF65-F5344CB8AC3E}">
        <p14:creationId xmlns:p14="http://schemas.microsoft.com/office/powerpoint/2010/main" val="615057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BF94A279-AF32-4A1F-82F8-8AC0E893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1AA794B-CA6D-427C-86B5-C503A91E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PRSIM</a:t>
            </a:r>
          </a:p>
        </p:txBody>
      </p:sp>
      <p:sp>
        <p:nvSpPr>
          <p:cNvPr id="3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BE89AAB9-EDEB-4DF8-814A-287D020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5F59"/>
                </a:solidFill>
              </a:defRPr>
            </a:pPr>
            <a:r>
              <a:rPr sz="975" b="1">
                <a:solidFill>
                  <a:srgbClr val="5F5F59"/>
                </a:solidFill>
              </a:rPr>
              <a:t>03  /  LIVE DEMO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BBC40A0-2DF8-412D-83BD-9BCF2E6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ONE PAGE  /  CONTINUOUS CONVERSATION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0DB6C125-37A2-4A48-8A1D-B133F81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990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>
                <a:solidFill>
                  <a:srgbClr val="0A0A0A"/>
                </a:solidFill>
              </a:defRPr>
            </a:pPr>
            <a:r>
              <a:rPr sz="3450">
                <a:solidFill>
                  <a:srgbClr val="0A0A0A"/>
                </a:solidFill>
              </a:rPr>
              <a:t>The first call assembles.</a:t>
            </a:r>
          </a:p>
          <a:p xmlns:a="http://schemas.openxmlformats.org/drawingml/2006/main">
            <a:pPr>
              <a:buNone/>
              <a:defRPr sz="3450">
                <a:solidFill>
                  <a:srgbClr val="0A0A0A"/>
                </a:solidFill>
              </a:defRPr>
            </a:pPr>
            <a:r>
              <a:rPr sz="3450">
                <a:solidFill>
                  <a:srgbClr val="0A0A0A"/>
                </a:solidFill>
              </a:rPr>
              <a:t>Every next question adjusts.</a:t>
            </a:r>
          </a:p>
        </p:txBody>
      </p:sp>
      <p:sp>
        <p:nvSpPr>
          <p:cNvPr id="6" name="webmcp-thesis">
            <a:extLst xmlns:a="http://schemas.openxmlformats.org/drawingml/2006/main">
              <a:ext uri="{FF2B5EF4-FFF2-40B4-BE49-F238E27FC236}">
                <a16:creationId xmlns:a16="http://schemas.microsoft.com/office/drawing/2014/main" id="{53C92088-CAF1-4CE0-9408-1130989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72727"/>
                </a:solidFill>
              </a:defRPr>
            </a:pPr>
            <a:r>
              <a:rPr sz="1650">
                <a:solidFill>
                  <a:srgbClr val="272727"/>
                </a:solidFill>
              </a:rPr>
              <a:t>The storefront keeps its state while focused tools change only what matters.</a:t>
            </a:r>
          </a:p>
        </p:txBody>
      </p:sp>
      <p:sp>
        <p:nvSpPr>
          <p:cNvPr id="7" name="mid-rule">
            <a:extLst xmlns:a="http://schemas.openxmlformats.org/drawingml/2006/main">
              <a:ext uri="{FF2B5EF4-FFF2-40B4-BE49-F238E27FC236}">
                <a16:creationId xmlns:a16="http://schemas.microsoft.com/office/drawing/2014/main" id="{9F012669-E723-4F2A-98D1-047DCD40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5287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2"/>
          </a:solidFill>
          <a:ln xmlns:a="http://schemas.openxmlformats.org/drawingml/2006/main" w="0">
            <a:solidFill>
              <a:srgbClr val="777772"/>
            </a:solidFill>
            <a:prstDash val="solid"/>
          </a:ln>
        </p:spPr>
      </p:sp>
      <p:sp>
        <p:nvSpPr>
          <p:cNvPr id="8" name="central-route-label">
            <a:extLst xmlns:a="http://schemas.openxmlformats.org/drawingml/2006/main">
              <a:ext uri="{FF2B5EF4-FFF2-40B4-BE49-F238E27FC236}">
                <a16:creationId xmlns:a16="http://schemas.microsoft.com/office/drawing/2014/main" id="{9E8CD755-6767-43D6-BFA9-9828312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“Find the right bag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for my trip.”</a:t>
            </a:r>
          </a:p>
        </p:txBody>
      </p:sp>
      <p:sp>
        <p:nvSpPr>
          <p:cNvPr id="9" name="central-route">
            <a:extLst xmlns:a="http://schemas.openxmlformats.org/drawingml/2006/main">
              <a:ext uri="{FF2B5EF4-FFF2-40B4-BE49-F238E27FC236}">
                <a16:creationId xmlns:a16="http://schemas.microsoft.com/office/drawing/2014/main" id="{26F1B766-0744-4533-BFAA-FACDF19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718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7F2"/>
                </a:solidFill>
              </a:defRPr>
            </a:pPr>
            <a:r>
              <a:rPr sz="1275" b="1">
                <a:solidFill>
                  <a:srgbClr val="F7F7F2"/>
                </a:solidFill>
              </a:rPr>
              <a:t>prepare_shopping_experience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7F7F2"/>
                </a:solidFill>
              </a:defRPr>
            </a:pPr>
            <a:r>
              <a:rPr sz="1275" b="1">
                <a:solidFill>
                  <a:srgbClr val="F7F7F2"/>
                </a:solidFill>
              </a:rPr>
              <a:t>ONE INITIAL CALL</a:t>
            </a:r>
          </a:p>
        </p:txBody>
      </p:sp>
      <p:sp>
        <p:nvSpPr>
          <p:cNvPr id="10" name="peripheral-route-label">
            <a:extLst xmlns:a="http://schemas.openxmlformats.org/drawingml/2006/main">
              <a:ext uri="{FF2B5EF4-FFF2-40B4-BE49-F238E27FC236}">
                <a16:creationId xmlns:a16="http://schemas.microsoft.com/office/drawing/2014/main" id="{B8C5BB68-6E5E-4F06-97B8-0BBB7DE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3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ADAPTIVE STOREFRONT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Hero + sections + assets</a:t>
            </a:r>
          </a:p>
        </p:txBody>
      </p:sp>
      <p:sp>
        <p:nvSpPr>
          <p:cNvPr id="11" name="peripheral-route">
            <a:extLst xmlns:a="http://schemas.openxmlformats.org/drawingml/2006/main">
              <a:ext uri="{FF2B5EF4-FFF2-40B4-BE49-F238E27FC236}">
                <a16:creationId xmlns:a16="http://schemas.microsoft.com/office/drawing/2014/main" id="{8A119168-21A0-458F-8285-23828AB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57750"/>
            <a:ext cx="864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72727"/>
                </a:solidFill>
              </a:defRPr>
            </a:pPr>
            <a:r>
              <a:rPr sz="1350">
                <a:solidFill>
                  <a:srgbClr val="272727"/>
                </a:solidFill>
              </a:rPr>
              <a:t>Then: cabin fit  ·  compare formats  ·  color  ·  reviews  ·  checkout</a:t>
            </a:r>
          </a:p>
        </p:txBody>
      </p:sp>
      <p:sp>
        <p:nvSpPr>
          <p:cNvPr id="12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F2EE238-6776-4980-89EF-602AE90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3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62F7A649-46C3-463F-B462-FA2732E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F7F7F2"/>
                </a:solidFill>
              </a:rPr>
              <a:t>Same conversation. Same page. Smaller tools.</a:t>
            </a:r>
          </a:p>
        </p:txBody>
      </p:sp>
      <p:sp>
        <p:nvSpPr>
          <p:cNvPr id="14" name="elm-source">
            <a:extLst xmlns:a="http://schemas.openxmlformats.org/drawingml/2006/main">
              <a:ext uri="{FF2B5EF4-FFF2-40B4-BE49-F238E27FC236}">
                <a16:creationId xmlns:a16="http://schemas.microsoft.com/office/drawing/2014/main" id="{8789EC3B-1C27-4163-B3E5-B50514E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19125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8A8A2"/>
                </a:solidFill>
              </a:defRPr>
            </a:pPr>
            <a:r>
              <a:rPr sz="900" b="1">
                <a:solidFill>
                  <a:srgbClr val="A8A8A2"/>
                </a:solidFill>
              </a:rPr>
              <a:t>STATEFUL  /  VERIFIABLE</a:t>
            </a:r>
          </a:p>
        </p:txBody>
      </p:sp>
    </p:spTree>
    <p:extLst>
      <p:ext uri="{BB962C8B-B14F-4D97-AF65-F5344CB8AC3E}">
        <p14:creationId xmlns:p14="http://schemas.microsoft.com/office/powerpoint/2010/main" val="615057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2026-09-02T16:36:01.3670000Z</dcterms:created>
  <dcterms:modified xsi:type="dcterms:W3CDTF">2026-09-02T16:36:01.3670000Z</dcterms:modified>
</coreProperties>
</file>